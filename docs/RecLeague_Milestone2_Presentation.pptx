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256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RecLeague in one sentence: it helps players find recreational teams and helps team captains connect with players. Mention that this milestone is a static high-fidelity prototype with separate views for each actor.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cover the three actors. Do not demo every detail here—this slide is just the map of the system. Faiyha can emphasize that her four SysAdmin functions directly match her four SysAdmin user stories.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transition directly into the live demo. Start on the shared login page, show role routing, then each teammate demos the subsystem they own. End by noting that this milestone is frontend-only and backend persistence comes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15A29"/>
          </a:solidFill>
          <a:ln w="12700">
            <a:solidFill>
              <a:srgbClr val="F15A29"/>
            </a:solidFill>
            <a:prstDash val="solid"/>
          </a:ln>
        </p:spPr>
        <p:txBody>
          <a:bodyPr/>
          <a:lstStyle/>
          <a:p>
            <a:endParaRPr lang="en-US"/>
          </a:p>
        </p:txBody>
      </p:sp>
      <p:sp>
        <p:nvSpPr>
          <p:cNvPr id="3" name="Text 1"/>
          <p:cNvSpPr/>
          <p:nvPr/>
        </p:nvSpPr>
        <p:spPr>
          <a:xfrm>
            <a:off x="502920" y="6473952"/>
            <a:ext cx="1828800" cy="201168"/>
          </a:xfrm>
          <a:prstGeom prst="rect">
            <a:avLst/>
          </a:prstGeom>
          <a:noFill/>
          <a:ln/>
        </p:spPr>
        <p:txBody>
          <a:bodyPr wrap="square" lIns="0" tIns="0" rIns="0" bIns="0" rtlCol="0" anchor="ctr"/>
          <a:lstStyle/>
          <a:p>
            <a:pPr marL="0" indent="0">
              <a:buNone/>
            </a:pPr>
            <a:r>
              <a:rPr lang="en-US" sz="1000" b="1" dirty="0">
                <a:solidFill>
                  <a:srgbClr val="123C73"/>
                </a:solidFill>
                <a:latin typeface="Aptos" pitchFamily="34" charset="0"/>
                <a:ea typeface="Aptos" pitchFamily="34" charset="-122"/>
                <a:cs typeface="Aptos" pitchFamily="34" charset="-120"/>
              </a:rPr>
              <a:t>RecLeague</a:t>
            </a:r>
            <a:endParaRPr lang="en-US" sz="1000" dirty="0"/>
          </a:p>
        </p:txBody>
      </p:sp>
      <p:sp>
        <p:nvSpPr>
          <p:cNvPr id="4" name="Text 2"/>
          <p:cNvSpPr/>
          <p:nvPr/>
        </p:nvSpPr>
        <p:spPr>
          <a:xfrm>
            <a:off x="9601200" y="6473952"/>
            <a:ext cx="2057400" cy="201168"/>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CSC 340 • Milestone 2</a:t>
            </a:r>
            <a:endParaRPr lang="en-US" sz="900" dirty="0"/>
          </a:p>
        </p:txBody>
      </p:sp>
      <p:sp>
        <p:nvSpPr>
          <p:cNvPr id="25" name="Slide Number Placeholder 0"/>
          <p:cNvSpPr>
            <a:spLocks noGrp="1"/>
          </p:cNvSpPr>
          <p:nvPr>
            <p:ph type="sldNum" sz="quarter" idx="4294967295"/>
          </p:nvPr>
        </p:nvSpPr>
        <p:spPr>
          <a:xfrm>
            <a:off x="117043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C73"/>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15A29"/>
          </a:solidFill>
          <a:ln w="12700">
            <a:solidFill>
              <a:srgbClr val="F15A29"/>
            </a:solidFill>
            <a:prstDash val="solid"/>
          </a:ln>
        </p:spPr>
        <p:txBody>
          <a:bodyPr/>
          <a:lstStyle/>
          <a:p>
            <a:endParaRPr lang="en-US"/>
          </a:p>
        </p:txBody>
      </p:sp>
      <p:sp>
        <p:nvSpPr>
          <p:cNvPr id="3" name="Shape 1"/>
          <p:cNvSpPr/>
          <p:nvPr/>
        </p:nvSpPr>
        <p:spPr>
          <a:xfrm>
            <a:off x="685800" y="658368"/>
            <a:ext cx="2011680" cy="310896"/>
          </a:xfrm>
          <a:prstGeom prst="roundRect">
            <a:avLst>
              <a:gd name="adj" fmla="val 23529"/>
            </a:avLst>
          </a:prstGeom>
          <a:solidFill>
            <a:srgbClr val="F15A29"/>
          </a:solidFill>
          <a:ln w="12700">
            <a:solidFill>
              <a:srgbClr val="F15A29"/>
            </a:solidFill>
            <a:prstDash val="solid"/>
          </a:ln>
        </p:spPr>
        <p:txBody>
          <a:bodyPr/>
          <a:lstStyle/>
          <a:p>
            <a:endParaRPr lang="en-US"/>
          </a:p>
        </p:txBody>
      </p:sp>
      <p:sp>
        <p:nvSpPr>
          <p:cNvPr id="4" name="Text 2"/>
          <p:cNvSpPr/>
          <p:nvPr/>
        </p:nvSpPr>
        <p:spPr>
          <a:xfrm>
            <a:off x="722376" y="699516"/>
            <a:ext cx="1938528" cy="182880"/>
          </a:xfrm>
          <a:prstGeom prst="rect">
            <a:avLst/>
          </a:prstGeom>
          <a:noFill/>
          <a:ln/>
        </p:spPr>
        <p:txBody>
          <a:bodyPr wrap="square" lIns="0" tIns="0" rIns="0" bIns="0" rtlCol="0" anchor="ctr"/>
          <a:lstStyle/>
          <a:p>
            <a:pPr marL="0" indent="0" algn="ctr">
              <a:buNone/>
            </a:pPr>
            <a:r>
              <a:rPr lang="en-US" sz="900" b="1" dirty="0">
                <a:solidFill>
                  <a:srgbClr val="FFFFFF"/>
                </a:solidFill>
              </a:rPr>
              <a:t>HIGH-FIDELITY PROTOTYPE</a:t>
            </a:r>
            <a:endParaRPr lang="en-US" sz="900" dirty="0"/>
          </a:p>
        </p:txBody>
      </p:sp>
      <p:sp>
        <p:nvSpPr>
          <p:cNvPr id="5" name="Text 3"/>
          <p:cNvSpPr/>
          <p:nvPr/>
        </p:nvSpPr>
        <p:spPr>
          <a:xfrm>
            <a:off x="685800" y="1207008"/>
            <a:ext cx="5029200" cy="73152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RecLeague</a:t>
            </a:r>
            <a:endParaRPr lang="en-US" sz="3400" dirty="0"/>
          </a:p>
        </p:txBody>
      </p:sp>
      <p:sp>
        <p:nvSpPr>
          <p:cNvPr id="6" name="Text 4"/>
          <p:cNvSpPr/>
          <p:nvPr/>
        </p:nvSpPr>
        <p:spPr>
          <a:xfrm>
            <a:off x="704088" y="1938528"/>
            <a:ext cx="5669280" cy="457200"/>
          </a:xfrm>
          <a:prstGeom prst="rect">
            <a:avLst/>
          </a:prstGeom>
          <a:noFill/>
          <a:ln/>
        </p:spPr>
        <p:txBody>
          <a:bodyPr wrap="square" lIns="0" tIns="0" rIns="0" bIns="0" rtlCol="0" anchor="ctr"/>
          <a:lstStyle/>
          <a:p>
            <a:pPr marL="0" indent="0">
              <a:buNone/>
            </a:pPr>
            <a:r>
              <a:rPr lang="en-US" sz="2200" b="1" dirty="0">
                <a:solidFill>
                  <a:srgbClr val="FFFFFF"/>
                </a:solidFill>
              </a:rPr>
              <a:t>Find your team. Join the game.</a:t>
            </a:r>
            <a:endParaRPr lang="en-US" sz="2200" dirty="0"/>
          </a:p>
        </p:txBody>
      </p:sp>
      <p:sp>
        <p:nvSpPr>
          <p:cNvPr id="7" name="Text 5"/>
          <p:cNvSpPr/>
          <p:nvPr/>
        </p:nvSpPr>
        <p:spPr>
          <a:xfrm>
            <a:off x="704088" y="2615184"/>
            <a:ext cx="5852160" cy="1143000"/>
          </a:xfrm>
          <a:prstGeom prst="rect">
            <a:avLst/>
          </a:prstGeom>
          <a:noFill/>
          <a:ln/>
        </p:spPr>
        <p:txBody>
          <a:bodyPr wrap="square" lIns="254" tIns="254" rIns="254" bIns="254" rtlCol="0" anchor="ctr"/>
          <a:lstStyle/>
          <a:p>
            <a:pPr marL="0" indent="0">
              <a:buNone/>
            </a:pPr>
            <a:r>
              <a:rPr lang="en-US" sz="1600" dirty="0">
                <a:solidFill>
                  <a:srgbClr val="EAF0F8"/>
                </a:solidFill>
              </a:rPr>
              <a:t>A recreational sports platform that helps players find local teams and helps team captains connect with players who are ready to play.</a:t>
            </a:r>
            <a:endParaRPr lang="en-US" sz="1600" dirty="0"/>
          </a:p>
        </p:txBody>
      </p:sp>
      <p:sp>
        <p:nvSpPr>
          <p:cNvPr id="8" name="Shape 6"/>
          <p:cNvSpPr/>
          <p:nvPr/>
        </p:nvSpPr>
        <p:spPr>
          <a:xfrm>
            <a:off x="6812280" y="1051560"/>
            <a:ext cx="4709160" cy="4389120"/>
          </a:xfrm>
          <a:prstGeom prst="roundRect">
            <a:avLst>
              <a:gd name="adj" fmla="val 1250"/>
            </a:avLst>
          </a:prstGeom>
          <a:solidFill>
            <a:srgbClr val="FFFFFF"/>
          </a:solidFill>
          <a:ln w="12700">
            <a:solidFill>
              <a:srgbClr val="D6DCE5"/>
            </a:solidFill>
            <a:prstDash val="solid"/>
          </a:ln>
        </p:spPr>
        <p:txBody>
          <a:bodyPr/>
          <a:lstStyle/>
          <a:p>
            <a:endParaRPr lang="en-US"/>
          </a:p>
        </p:txBody>
      </p:sp>
      <p:sp>
        <p:nvSpPr>
          <p:cNvPr id="9" name="Shape 7"/>
          <p:cNvSpPr/>
          <p:nvPr/>
        </p:nvSpPr>
        <p:spPr>
          <a:xfrm>
            <a:off x="6812280" y="1051560"/>
            <a:ext cx="4709160" cy="502920"/>
          </a:xfrm>
          <a:prstGeom prst="rect">
            <a:avLst/>
          </a:prstGeom>
          <a:solidFill>
            <a:srgbClr val="EEF2F6"/>
          </a:solidFill>
          <a:ln w="12700">
            <a:solidFill>
              <a:srgbClr val="EEF2F6"/>
            </a:solidFill>
            <a:prstDash val="solid"/>
          </a:ln>
        </p:spPr>
        <p:txBody>
          <a:bodyPr/>
          <a:lstStyle/>
          <a:p>
            <a:endParaRPr lang="en-US"/>
          </a:p>
        </p:txBody>
      </p:sp>
      <p:sp>
        <p:nvSpPr>
          <p:cNvPr id="10" name="Shape 8"/>
          <p:cNvSpPr/>
          <p:nvPr/>
        </p:nvSpPr>
        <p:spPr>
          <a:xfrm>
            <a:off x="7059168" y="1225296"/>
            <a:ext cx="118872" cy="118872"/>
          </a:xfrm>
          <a:prstGeom prst="ellipse">
            <a:avLst/>
          </a:prstGeom>
          <a:solidFill>
            <a:srgbClr val="F15A29"/>
          </a:solidFill>
          <a:ln w="12700">
            <a:solidFill>
              <a:srgbClr val="F15A29"/>
            </a:solidFill>
            <a:prstDash val="solid"/>
          </a:ln>
        </p:spPr>
        <p:txBody>
          <a:bodyPr/>
          <a:lstStyle/>
          <a:p>
            <a:endParaRPr lang="en-US"/>
          </a:p>
        </p:txBody>
      </p:sp>
      <p:sp>
        <p:nvSpPr>
          <p:cNvPr id="11" name="Shape 9"/>
          <p:cNvSpPr/>
          <p:nvPr/>
        </p:nvSpPr>
        <p:spPr>
          <a:xfrm>
            <a:off x="7315200" y="1225296"/>
            <a:ext cx="118872" cy="118872"/>
          </a:xfrm>
          <a:prstGeom prst="ellipse">
            <a:avLst/>
          </a:prstGeom>
          <a:solidFill>
            <a:srgbClr val="F6C453"/>
          </a:solidFill>
          <a:ln w="12700">
            <a:solidFill>
              <a:srgbClr val="F6C453"/>
            </a:solidFill>
            <a:prstDash val="solid"/>
          </a:ln>
        </p:spPr>
        <p:txBody>
          <a:bodyPr/>
          <a:lstStyle/>
          <a:p>
            <a:endParaRPr lang="en-US"/>
          </a:p>
        </p:txBody>
      </p:sp>
      <p:sp>
        <p:nvSpPr>
          <p:cNvPr id="12" name="Shape 10"/>
          <p:cNvSpPr/>
          <p:nvPr/>
        </p:nvSpPr>
        <p:spPr>
          <a:xfrm>
            <a:off x="7571232" y="1225296"/>
            <a:ext cx="118872" cy="118872"/>
          </a:xfrm>
          <a:prstGeom prst="ellipse">
            <a:avLst/>
          </a:prstGeom>
          <a:solidFill>
            <a:srgbClr val="5BBF7A"/>
          </a:solidFill>
          <a:ln w="12700">
            <a:solidFill>
              <a:srgbClr val="5BBF7A"/>
            </a:solidFill>
            <a:prstDash val="solid"/>
          </a:ln>
        </p:spPr>
        <p:txBody>
          <a:bodyPr/>
          <a:lstStyle/>
          <a:p>
            <a:endParaRPr lang="en-US"/>
          </a:p>
        </p:txBody>
      </p:sp>
      <p:sp>
        <p:nvSpPr>
          <p:cNvPr id="13" name="Text 11"/>
          <p:cNvSpPr/>
          <p:nvPr/>
        </p:nvSpPr>
        <p:spPr>
          <a:xfrm>
            <a:off x="7205472" y="1828800"/>
            <a:ext cx="3886200" cy="320040"/>
          </a:xfrm>
          <a:prstGeom prst="rect">
            <a:avLst/>
          </a:prstGeom>
          <a:noFill/>
          <a:ln/>
        </p:spPr>
        <p:txBody>
          <a:bodyPr wrap="square" lIns="0" tIns="0" rIns="0" bIns="0" rtlCol="0" anchor="ctr"/>
          <a:lstStyle/>
          <a:p>
            <a:pPr marL="0" indent="0" algn="ctr">
              <a:buNone/>
            </a:pPr>
            <a:r>
              <a:rPr lang="en-US" sz="1900" b="1" dirty="0">
                <a:solidFill>
                  <a:srgbClr val="123C73"/>
                </a:solidFill>
              </a:rPr>
              <a:t>RecLeague</a:t>
            </a:r>
            <a:endParaRPr lang="en-US" sz="1900" dirty="0"/>
          </a:p>
        </p:txBody>
      </p:sp>
      <p:sp>
        <p:nvSpPr>
          <p:cNvPr id="14" name="Text 12"/>
          <p:cNvSpPr/>
          <p:nvPr/>
        </p:nvSpPr>
        <p:spPr>
          <a:xfrm>
            <a:off x="7479792" y="2395728"/>
            <a:ext cx="3337560" cy="274320"/>
          </a:xfrm>
          <a:prstGeom prst="rect">
            <a:avLst/>
          </a:prstGeom>
          <a:noFill/>
          <a:ln/>
        </p:spPr>
        <p:txBody>
          <a:bodyPr wrap="square" lIns="0" tIns="0" rIns="0" bIns="0" rtlCol="0" anchor="ctr"/>
          <a:lstStyle/>
          <a:p>
            <a:pPr marL="0" indent="0" algn="ctr">
              <a:buNone/>
            </a:pPr>
            <a:r>
              <a:rPr lang="en-US" sz="1200" dirty="0">
                <a:solidFill>
                  <a:srgbClr val="6B7280"/>
                </a:solidFill>
              </a:rPr>
              <a:t>Choose your role</a:t>
            </a:r>
            <a:endParaRPr lang="en-US" sz="1200" dirty="0"/>
          </a:p>
        </p:txBody>
      </p:sp>
      <p:sp>
        <p:nvSpPr>
          <p:cNvPr id="15" name="Shape 13"/>
          <p:cNvSpPr/>
          <p:nvPr/>
        </p:nvSpPr>
        <p:spPr>
          <a:xfrm>
            <a:off x="7635240" y="2907792"/>
            <a:ext cx="3017520" cy="438912"/>
          </a:xfrm>
          <a:prstGeom prst="roundRect">
            <a:avLst>
              <a:gd name="adj" fmla="val 10417"/>
            </a:avLst>
          </a:prstGeom>
          <a:solidFill>
            <a:srgbClr val="123C73"/>
          </a:solidFill>
          <a:ln w="12700">
            <a:solidFill>
              <a:srgbClr val="123C73"/>
            </a:solidFill>
            <a:prstDash val="solid"/>
          </a:ln>
        </p:spPr>
        <p:txBody>
          <a:bodyPr/>
          <a:lstStyle/>
          <a:p>
            <a:endParaRPr lang="en-US"/>
          </a:p>
        </p:txBody>
      </p:sp>
      <p:sp>
        <p:nvSpPr>
          <p:cNvPr id="16" name="Text 14"/>
          <p:cNvSpPr/>
          <p:nvPr/>
        </p:nvSpPr>
        <p:spPr>
          <a:xfrm>
            <a:off x="7726680" y="3026664"/>
            <a:ext cx="2834640" cy="164592"/>
          </a:xfrm>
          <a:prstGeom prst="rect">
            <a:avLst/>
          </a:prstGeom>
          <a:noFill/>
          <a:ln/>
        </p:spPr>
        <p:txBody>
          <a:bodyPr wrap="square" lIns="0" tIns="0" rIns="0" bIns="0" rtlCol="0" anchor="ctr"/>
          <a:lstStyle/>
          <a:p>
            <a:pPr marL="0" indent="0" algn="ctr">
              <a:buNone/>
            </a:pPr>
            <a:r>
              <a:rPr lang="en-US" sz="1050" b="1" dirty="0">
                <a:solidFill>
                  <a:srgbClr val="FFFFFF"/>
                </a:solidFill>
              </a:rPr>
              <a:t>PLAYER</a:t>
            </a:r>
            <a:endParaRPr lang="en-US" sz="1050" dirty="0"/>
          </a:p>
        </p:txBody>
      </p:sp>
      <p:sp>
        <p:nvSpPr>
          <p:cNvPr id="17" name="Shape 15"/>
          <p:cNvSpPr/>
          <p:nvPr/>
        </p:nvSpPr>
        <p:spPr>
          <a:xfrm>
            <a:off x="7635240" y="3584448"/>
            <a:ext cx="3017520" cy="438912"/>
          </a:xfrm>
          <a:prstGeom prst="roundRect">
            <a:avLst>
              <a:gd name="adj" fmla="val 10417"/>
            </a:avLst>
          </a:prstGeom>
          <a:solidFill>
            <a:srgbClr val="F15A29"/>
          </a:solidFill>
          <a:ln w="12700">
            <a:solidFill>
              <a:srgbClr val="F15A29"/>
            </a:solidFill>
            <a:prstDash val="solid"/>
          </a:ln>
        </p:spPr>
        <p:txBody>
          <a:bodyPr/>
          <a:lstStyle/>
          <a:p>
            <a:endParaRPr lang="en-US"/>
          </a:p>
        </p:txBody>
      </p:sp>
      <p:sp>
        <p:nvSpPr>
          <p:cNvPr id="18" name="Text 16"/>
          <p:cNvSpPr/>
          <p:nvPr/>
        </p:nvSpPr>
        <p:spPr>
          <a:xfrm>
            <a:off x="7726680" y="3703320"/>
            <a:ext cx="2834640" cy="164592"/>
          </a:xfrm>
          <a:prstGeom prst="rect">
            <a:avLst/>
          </a:prstGeom>
          <a:noFill/>
          <a:ln/>
        </p:spPr>
        <p:txBody>
          <a:bodyPr wrap="square" lIns="0" tIns="0" rIns="0" bIns="0" rtlCol="0" anchor="ctr"/>
          <a:lstStyle/>
          <a:p>
            <a:pPr marL="0" indent="0" algn="ctr">
              <a:buNone/>
            </a:pPr>
            <a:r>
              <a:rPr lang="en-US" sz="1050" b="1" dirty="0">
                <a:solidFill>
                  <a:srgbClr val="FFFFFF"/>
                </a:solidFill>
              </a:rPr>
              <a:t>TEAM CAPTAIN</a:t>
            </a:r>
            <a:endParaRPr lang="en-US" sz="1050" dirty="0"/>
          </a:p>
        </p:txBody>
      </p:sp>
      <p:sp>
        <p:nvSpPr>
          <p:cNvPr id="19" name="Shape 17"/>
          <p:cNvSpPr/>
          <p:nvPr/>
        </p:nvSpPr>
        <p:spPr>
          <a:xfrm>
            <a:off x="7635240" y="4261104"/>
            <a:ext cx="3017520" cy="438912"/>
          </a:xfrm>
          <a:prstGeom prst="roundRect">
            <a:avLst>
              <a:gd name="adj" fmla="val 10417"/>
            </a:avLst>
          </a:prstGeom>
          <a:solidFill>
            <a:srgbClr val="123C73"/>
          </a:solidFill>
          <a:ln w="12700">
            <a:solidFill>
              <a:srgbClr val="123C73"/>
            </a:solidFill>
            <a:prstDash val="solid"/>
          </a:ln>
        </p:spPr>
        <p:txBody>
          <a:bodyPr/>
          <a:lstStyle/>
          <a:p>
            <a:endParaRPr lang="en-US"/>
          </a:p>
        </p:txBody>
      </p:sp>
      <p:sp>
        <p:nvSpPr>
          <p:cNvPr id="20" name="Text 18"/>
          <p:cNvSpPr/>
          <p:nvPr/>
        </p:nvSpPr>
        <p:spPr>
          <a:xfrm>
            <a:off x="7726680" y="4379976"/>
            <a:ext cx="2834640" cy="164592"/>
          </a:xfrm>
          <a:prstGeom prst="rect">
            <a:avLst/>
          </a:prstGeom>
          <a:noFill/>
          <a:ln/>
        </p:spPr>
        <p:txBody>
          <a:bodyPr wrap="square" lIns="0" tIns="0" rIns="0" bIns="0" rtlCol="0" anchor="ctr"/>
          <a:lstStyle/>
          <a:p>
            <a:pPr marL="0" indent="0" algn="ctr">
              <a:buNone/>
            </a:pPr>
            <a:r>
              <a:rPr lang="en-US" sz="1050" b="1" dirty="0">
                <a:solidFill>
                  <a:srgbClr val="FFFFFF"/>
                </a:solidFill>
              </a:rPr>
              <a:t>SYSADMIN</a:t>
            </a:r>
            <a:endParaRPr lang="en-US" sz="1050" dirty="0"/>
          </a:p>
        </p:txBody>
      </p:sp>
      <p:sp>
        <p:nvSpPr>
          <p:cNvPr id="21" name="Text 19"/>
          <p:cNvSpPr/>
          <p:nvPr/>
        </p:nvSpPr>
        <p:spPr>
          <a:xfrm>
            <a:off x="713232" y="5961888"/>
            <a:ext cx="6309360" cy="274320"/>
          </a:xfrm>
          <a:prstGeom prst="rect">
            <a:avLst/>
          </a:prstGeom>
          <a:noFill/>
          <a:ln/>
        </p:spPr>
        <p:txBody>
          <a:bodyPr wrap="square" lIns="0" tIns="0" rIns="0" bIns="0" rtlCol="0" anchor="ctr"/>
          <a:lstStyle/>
          <a:p>
            <a:pPr marL="0" indent="0">
              <a:buNone/>
            </a:pPr>
            <a:r>
              <a:rPr lang="en-US" sz="1100" dirty="0">
                <a:solidFill>
                  <a:srgbClr val="DCE6F2"/>
                </a:solidFill>
              </a:rPr>
              <a:t>Team: Mohammad Zuhd • Goran Ali • Faiyha Dafalla</a:t>
            </a:r>
            <a:endParaRPr lang="en-US" sz="1100" dirty="0"/>
          </a:p>
        </p:txBody>
      </p:sp>
      <p:sp>
        <p:nvSpPr>
          <p:cNvPr id="25" name="Slide Number Placeholder 0"/>
          <p:cNvSpPr>
            <a:spLocks noGrp="1"/>
          </p:cNvSpPr>
          <p:nvPr>
            <p:ph type="sldNum" sz="quarter" idx="4294967295"/>
          </p:nvPr>
        </p:nvSpPr>
        <p:spPr>
          <a:xfrm>
            <a:off x="117043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502920"/>
            <a:ext cx="10972800" cy="502920"/>
          </a:xfrm>
          <a:prstGeom prst="rect">
            <a:avLst/>
          </a:prstGeom>
          <a:noFill/>
          <a:ln/>
        </p:spPr>
        <p:txBody>
          <a:bodyPr wrap="square" lIns="0" tIns="0" rIns="0" bIns="0" rtlCol="0" anchor="ctr"/>
          <a:lstStyle/>
          <a:p>
            <a:pPr marL="0" indent="0">
              <a:buNone/>
            </a:pPr>
            <a:r>
              <a:rPr lang="en-US" sz="2700" b="1" dirty="0">
                <a:solidFill>
                  <a:srgbClr val="123C73"/>
                </a:solidFill>
                <a:latin typeface="Aptos Display" pitchFamily="34" charset="0"/>
                <a:ea typeface="Aptos Display" pitchFamily="34" charset="-122"/>
                <a:cs typeface="Aptos Display" pitchFamily="34" charset="-120"/>
              </a:rPr>
              <a:t>Main actors and functionality</a:t>
            </a:r>
            <a:endParaRPr lang="en-US" sz="2700" dirty="0"/>
          </a:p>
        </p:txBody>
      </p:sp>
      <p:sp>
        <p:nvSpPr>
          <p:cNvPr id="3" name="Text 1"/>
          <p:cNvSpPr/>
          <p:nvPr/>
        </p:nvSpPr>
        <p:spPr>
          <a:xfrm>
            <a:off x="612648" y="1060704"/>
            <a:ext cx="10789920" cy="310896"/>
          </a:xfrm>
          <a:prstGeom prst="rect">
            <a:avLst/>
          </a:prstGeom>
          <a:noFill/>
          <a:ln/>
        </p:spPr>
        <p:txBody>
          <a:bodyPr wrap="square" lIns="0" tIns="0" rIns="0" bIns="0" rtlCol="0" anchor="ctr"/>
          <a:lstStyle/>
          <a:p>
            <a:pPr marL="0" indent="0">
              <a:buNone/>
            </a:pPr>
            <a:r>
              <a:rPr lang="en-US" sz="1300" dirty="0">
                <a:solidFill>
                  <a:srgbClr val="6B7280"/>
                </a:solidFill>
              </a:rPr>
              <a:t>Each role has its own prototype flow and user stories.</a:t>
            </a:r>
            <a:endParaRPr lang="en-US" sz="1300" dirty="0"/>
          </a:p>
        </p:txBody>
      </p:sp>
      <p:sp>
        <p:nvSpPr>
          <p:cNvPr id="4" name="Shape 2"/>
          <p:cNvSpPr/>
          <p:nvPr/>
        </p:nvSpPr>
        <p:spPr>
          <a:xfrm>
            <a:off x="640080" y="1627632"/>
            <a:ext cx="3429000" cy="3977640"/>
          </a:xfrm>
          <a:prstGeom prst="roundRect">
            <a:avLst>
              <a:gd name="adj" fmla="val 1600"/>
            </a:avLst>
          </a:prstGeom>
          <a:solidFill>
            <a:srgbClr val="FFFFFF"/>
          </a:solidFill>
          <a:ln w="12700">
            <a:solidFill>
              <a:srgbClr val="E5E7EB"/>
            </a:solidFill>
            <a:prstDash val="solid"/>
          </a:ln>
          <a:effectLst>
            <a:outerShdw blurRad="12700" dist="50800" dir="2700000" algn="bl" rotWithShape="0">
              <a:srgbClr val="D1D5DB">
                <a:alpha val="18000"/>
              </a:srgbClr>
            </a:outerShdw>
          </a:effectLst>
        </p:spPr>
        <p:txBody>
          <a:bodyPr/>
          <a:lstStyle/>
          <a:p>
            <a:endParaRPr lang="en-US"/>
          </a:p>
        </p:txBody>
      </p:sp>
      <p:sp>
        <p:nvSpPr>
          <p:cNvPr id="5" name="Shape 3"/>
          <p:cNvSpPr/>
          <p:nvPr/>
        </p:nvSpPr>
        <p:spPr>
          <a:xfrm>
            <a:off x="640080" y="1627632"/>
            <a:ext cx="73152" cy="3977640"/>
          </a:xfrm>
          <a:prstGeom prst="rect">
            <a:avLst/>
          </a:prstGeom>
          <a:solidFill>
            <a:srgbClr val="123C73"/>
          </a:solidFill>
          <a:ln w="12700">
            <a:solidFill>
              <a:srgbClr val="123C73"/>
            </a:solidFill>
            <a:prstDash val="solid"/>
          </a:ln>
        </p:spPr>
        <p:txBody>
          <a:bodyPr/>
          <a:lstStyle/>
          <a:p>
            <a:endParaRPr lang="en-US"/>
          </a:p>
        </p:txBody>
      </p:sp>
      <p:sp>
        <p:nvSpPr>
          <p:cNvPr id="6" name="Text 4"/>
          <p:cNvSpPr/>
          <p:nvPr/>
        </p:nvSpPr>
        <p:spPr>
          <a:xfrm>
            <a:off x="896112" y="1828800"/>
            <a:ext cx="2990088" cy="320040"/>
          </a:xfrm>
          <a:prstGeom prst="rect">
            <a:avLst/>
          </a:prstGeom>
          <a:noFill/>
          <a:ln/>
        </p:spPr>
        <p:txBody>
          <a:bodyPr wrap="square" lIns="0" tIns="0" rIns="0" bIns="0" rtlCol="0" anchor="ctr"/>
          <a:lstStyle/>
          <a:p>
            <a:pPr marL="0" indent="0">
              <a:buNone/>
            </a:pPr>
            <a:r>
              <a:rPr lang="en-US" sz="1600" b="1" dirty="0">
                <a:solidFill>
                  <a:srgbClr val="123C73"/>
                </a:solidFill>
              </a:rPr>
              <a:t>Player / Customer</a:t>
            </a:r>
            <a:endParaRPr lang="en-US" sz="1600" dirty="0"/>
          </a:p>
        </p:txBody>
      </p:sp>
      <p:sp>
        <p:nvSpPr>
          <p:cNvPr id="7" name="Text 5"/>
          <p:cNvSpPr/>
          <p:nvPr/>
        </p:nvSpPr>
        <p:spPr>
          <a:xfrm>
            <a:off x="896112" y="2286000"/>
            <a:ext cx="2971800" cy="3136392"/>
          </a:xfrm>
          <a:prstGeom prst="rect">
            <a:avLst/>
          </a:prstGeom>
          <a:noFill/>
          <a:ln/>
        </p:spPr>
        <p:txBody>
          <a:bodyPr wrap="square" lIns="254" tIns="254" rIns="254" bIns="254" rtlCol="0" anchor="t"/>
          <a:lstStyle/>
          <a:p>
            <a:pPr marL="0" indent="0">
              <a:buNone/>
            </a:pPr>
            <a:r>
              <a:rPr lang="en-US" sz="1150" dirty="0">
                <a:solidFill>
                  <a:srgbClr val="374151"/>
                </a:solidFill>
              </a:rPr>
              <a:t>• Create or update a player profile</a:t>
            </a:r>
            <a:endParaRPr lang="en-US" sz="1150" dirty="0"/>
          </a:p>
          <a:p>
            <a:pPr marL="0" indent="0">
              <a:buNone/>
            </a:pPr>
            <a:endParaRPr lang="en-US" sz="1150" dirty="0"/>
          </a:p>
          <a:p>
            <a:pPr marL="0" indent="0">
              <a:buNone/>
            </a:pPr>
            <a:r>
              <a:rPr lang="en-US" sz="1150" dirty="0">
                <a:solidFill>
                  <a:srgbClr val="374151"/>
                </a:solidFill>
              </a:rPr>
              <a:t>• Browse available teams by sport, skill level, location, or schedule</a:t>
            </a:r>
            <a:endParaRPr lang="en-US" sz="1150" dirty="0"/>
          </a:p>
          <a:p>
            <a:pPr marL="0" indent="0">
              <a:buNone/>
            </a:pPr>
            <a:endParaRPr lang="en-US" sz="1150" dirty="0"/>
          </a:p>
          <a:p>
            <a:pPr marL="0" indent="0">
              <a:buNone/>
            </a:pPr>
            <a:r>
              <a:rPr lang="en-US" sz="1150" dirty="0">
                <a:solidFill>
                  <a:srgbClr val="374151"/>
                </a:solidFill>
              </a:rPr>
              <a:t>• Request to join a team</a:t>
            </a:r>
            <a:endParaRPr lang="en-US" sz="1150" dirty="0"/>
          </a:p>
          <a:p>
            <a:pPr marL="0" indent="0">
              <a:buNone/>
            </a:pPr>
            <a:endParaRPr lang="en-US" sz="1150" dirty="0"/>
          </a:p>
          <a:p>
            <a:pPr marL="0" indent="0">
              <a:buNone/>
            </a:pPr>
            <a:r>
              <a:rPr lang="en-US" sz="1150" dirty="0">
                <a:solidFill>
                  <a:srgbClr val="374151"/>
                </a:solidFill>
              </a:rPr>
              <a:t>• Leave reviews</a:t>
            </a:r>
            <a:endParaRPr lang="en-US" sz="1150" dirty="0"/>
          </a:p>
        </p:txBody>
      </p:sp>
      <p:sp>
        <p:nvSpPr>
          <p:cNvPr id="8" name="Shape 6"/>
          <p:cNvSpPr/>
          <p:nvPr/>
        </p:nvSpPr>
        <p:spPr>
          <a:xfrm>
            <a:off x="4389120" y="1627632"/>
            <a:ext cx="3429000" cy="3977640"/>
          </a:xfrm>
          <a:prstGeom prst="roundRect">
            <a:avLst>
              <a:gd name="adj" fmla="val 1600"/>
            </a:avLst>
          </a:prstGeom>
          <a:solidFill>
            <a:srgbClr val="FFFFFF"/>
          </a:solidFill>
          <a:ln w="12700">
            <a:solidFill>
              <a:srgbClr val="E5E7EB"/>
            </a:solidFill>
            <a:prstDash val="solid"/>
          </a:ln>
          <a:effectLst>
            <a:outerShdw blurRad="12700" dist="50800" dir="2700000" algn="bl" rotWithShape="0">
              <a:srgbClr val="D1D5DB">
                <a:alpha val="18000"/>
              </a:srgbClr>
            </a:outerShdw>
          </a:effectLst>
        </p:spPr>
        <p:txBody>
          <a:bodyPr/>
          <a:lstStyle/>
          <a:p>
            <a:endParaRPr lang="en-US"/>
          </a:p>
        </p:txBody>
      </p:sp>
      <p:sp>
        <p:nvSpPr>
          <p:cNvPr id="9" name="Shape 7"/>
          <p:cNvSpPr/>
          <p:nvPr/>
        </p:nvSpPr>
        <p:spPr>
          <a:xfrm>
            <a:off x="4389120" y="1627632"/>
            <a:ext cx="73152" cy="3977640"/>
          </a:xfrm>
          <a:prstGeom prst="rect">
            <a:avLst/>
          </a:prstGeom>
          <a:solidFill>
            <a:srgbClr val="F15A29"/>
          </a:solidFill>
          <a:ln w="12700">
            <a:solidFill>
              <a:srgbClr val="F15A29"/>
            </a:solidFill>
            <a:prstDash val="solid"/>
          </a:ln>
        </p:spPr>
        <p:txBody>
          <a:bodyPr/>
          <a:lstStyle/>
          <a:p>
            <a:endParaRPr lang="en-US"/>
          </a:p>
        </p:txBody>
      </p:sp>
      <p:sp>
        <p:nvSpPr>
          <p:cNvPr id="10" name="Text 8"/>
          <p:cNvSpPr/>
          <p:nvPr/>
        </p:nvSpPr>
        <p:spPr>
          <a:xfrm>
            <a:off x="4645152" y="1828800"/>
            <a:ext cx="2990088" cy="320040"/>
          </a:xfrm>
          <a:prstGeom prst="rect">
            <a:avLst/>
          </a:prstGeom>
          <a:noFill/>
          <a:ln/>
        </p:spPr>
        <p:txBody>
          <a:bodyPr wrap="square" lIns="0" tIns="0" rIns="0" bIns="0" rtlCol="0" anchor="ctr"/>
          <a:lstStyle/>
          <a:p>
            <a:pPr marL="0" indent="0">
              <a:buNone/>
            </a:pPr>
            <a:r>
              <a:rPr lang="en-US" sz="1600" b="1" dirty="0">
                <a:solidFill>
                  <a:srgbClr val="123C73"/>
                </a:solidFill>
              </a:rPr>
              <a:t>Team Captain / Provider</a:t>
            </a:r>
            <a:endParaRPr lang="en-US" sz="1600" dirty="0"/>
          </a:p>
        </p:txBody>
      </p:sp>
      <p:sp>
        <p:nvSpPr>
          <p:cNvPr id="11" name="Text 9"/>
          <p:cNvSpPr/>
          <p:nvPr/>
        </p:nvSpPr>
        <p:spPr>
          <a:xfrm>
            <a:off x="4645152" y="2286000"/>
            <a:ext cx="2971800" cy="3136392"/>
          </a:xfrm>
          <a:prstGeom prst="rect">
            <a:avLst/>
          </a:prstGeom>
          <a:noFill/>
          <a:ln/>
        </p:spPr>
        <p:txBody>
          <a:bodyPr wrap="square" lIns="254" tIns="254" rIns="254" bIns="254" rtlCol="0" anchor="t"/>
          <a:lstStyle/>
          <a:p>
            <a:pPr marL="0" indent="0">
              <a:buNone/>
            </a:pPr>
            <a:r>
              <a:rPr lang="en-US" sz="1150" dirty="0">
                <a:solidFill>
                  <a:srgbClr val="374151"/>
                </a:solidFill>
              </a:rPr>
              <a:t>• Manage teams</a:t>
            </a:r>
            <a:endParaRPr lang="en-US" sz="1150" dirty="0"/>
          </a:p>
          <a:p>
            <a:pPr marL="0" indent="0">
              <a:buNone/>
            </a:pPr>
            <a:endParaRPr lang="en-US" sz="1150" dirty="0"/>
          </a:p>
          <a:p>
            <a:pPr marL="0" indent="0">
              <a:buNone/>
            </a:pPr>
            <a:r>
              <a:rPr lang="en-US" sz="1150" dirty="0">
                <a:solidFill>
                  <a:srgbClr val="374151"/>
                </a:solidFill>
              </a:rPr>
              <a:t>• Post open roster spots</a:t>
            </a:r>
            <a:endParaRPr lang="en-US" sz="1150" dirty="0"/>
          </a:p>
          <a:p>
            <a:pPr marL="0" indent="0">
              <a:buNone/>
            </a:pPr>
            <a:endParaRPr lang="en-US" sz="1150" dirty="0"/>
          </a:p>
          <a:p>
            <a:pPr marL="0" indent="0">
              <a:buNone/>
            </a:pPr>
            <a:r>
              <a:rPr lang="en-US" sz="1150" dirty="0">
                <a:solidFill>
                  <a:srgbClr val="374151"/>
                </a:solidFill>
              </a:rPr>
              <a:t>• Manage roster requests</a:t>
            </a:r>
            <a:endParaRPr lang="en-US" sz="1150" dirty="0"/>
          </a:p>
          <a:p>
            <a:pPr marL="0" indent="0">
              <a:buNone/>
            </a:pPr>
            <a:endParaRPr lang="en-US" sz="1150" dirty="0"/>
          </a:p>
          <a:p>
            <a:pPr marL="0" indent="0">
              <a:buNone/>
            </a:pPr>
            <a:r>
              <a:rPr lang="en-US" sz="1150" dirty="0">
                <a:solidFill>
                  <a:srgbClr val="374151"/>
                </a:solidFill>
              </a:rPr>
              <a:t>• View and manage team reviews</a:t>
            </a:r>
            <a:endParaRPr lang="en-US" sz="1150" dirty="0"/>
          </a:p>
        </p:txBody>
      </p:sp>
      <p:sp>
        <p:nvSpPr>
          <p:cNvPr id="12" name="Shape 10"/>
          <p:cNvSpPr/>
          <p:nvPr/>
        </p:nvSpPr>
        <p:spPr>
          <a:xfrm>
            <a:off x="8138160" y="1627632"/>
            <a:ext cx="3429000" cy="3977640"/>
          </a:xfrm>
          <a:prstGeom prst="roundRect">
            <a:avLst>
              <a:gd name="adj" fmla="val 1600"/>
            </a:avLst>
          </a:prstGeom>
          <a:solidFill>
            <a:srgbClr val="FFFFFF"/>
          </a:solidFill>
          <a:ln w="12700">
            <a:solidFill>
              <a:srgbClr val="E5E7EB"/>
            </a:solidFill>
            <a:prstDash val="solid"/>
          </a:ln>
          <a:effectLst>
            <a:outerShdw blurRad="12700" dist="50800" dir="2700000" algn="bl" rotWithShape="0">
              <a:srgbClr val="D1D5DB">
                <a:alpha val="18000"/>
              </a:srgbClr>
            </a:outerShdw>
          </a:effectLst>
        </p:spPr>
        <p:txBody>
          <a:bodyPr/>
          <a:lstStyle/>
          <a:p>
            <a:endParaRPr lang="en-US"/>
          </a:p>
        </p:txBody>
      </p:sp>
      <p:sp>
        <p:nvSpPr>
          <p:cNvPr id="13" name="Shape 11"/>
          <p:cNvSpPr/>
          <p:nvPr/>
        </p:nvSpPr>
        <p:spPr>
          <a:xfrm>
            <a:off x="8138160" y="1627632"/>
            <a:ext cx="73152" cy="3977640"/>
          </a:xfrm>
          <a:prstGeom prst="rect">
            <a:avLst/>
          </a:prstGeom>
          <a:solidFill>
            <a:srgbClr val="123C73"/>
          </a:solidFill>
          <a:ln w="12700">
            <a:solidFill>
              <a:srgbClr val="123C73"/>
            </a:solidFill>
            <a:prstDash val="solid"/>
          </a:ln>
        </p:spPr>
        <p:txBody>
          <a:bodyPr/>
          <a:lstStyle/>
          <a:p>
            <a:endParaRPr lang="en-US"/>
          </a:p>
        </p:txBody>
      </p:sp>
      <p:sp>
        <p:nvSpPr>
          <p:cNvPr id="14" name="Text 12"/>
          <p:cNvSpPr/>
          <p:nvPr/>
        </p:nvSpPr>
        <p:spPr>
          <a:xfrm>
            <a:off x="8394192" y="1828800"/>
            <a:ext cx="2990088" cy="320040"/>
          </a:xfrm>
          <a:prstGeom prst="rect">
            <a:avLst/>
          </a:prstGeom>
          <a:noFill/>
          <a:ln/>
        </p:spPr>
        <p:txBody>
          <a:bodyPr wrap="square" lIns="0" tIns="0" rIns="0" bIns="0" rtlCol="0" anchor="ctr"/>
          <a:lstStyle/>
          <a:p>
            <a:pPr marL="0" indent="0">
              <a:buNone/>
            </a:pPr>
            <a:r>
              <a:rPr lang="en-US" sz="1600" b="1" dirty="0">
                <a:solidFill>
                  <a:srgbClr val="123C73"/>
                </a:solidFill>
              </a:rPr>
              <a:t>SysAdmin</a:t>
            </a:r>
            <a:endParaRPr lang="en-US" sz="1600" dirty="0"/>
          </a:p>
        </p:txBody>
      </p:sp>
      <p:sp>
        <p:nvSpPr>
          <p:cNvPr id="15" name="Text 13"/>
          <p:cNvSpPr/>
          <p:nvPr/>
        </p:nvSpPr>
        <p:spPr>
          <a:xfrm>
            <a:off x="8394192" y="2286000"/>
            <a:ext cx="2971800" cy="3136392"/>
          </a:xfrm>
          <a:prstGeom prst="rect">
            <a:avLst/>
          </a:prstGeom>
          <a:noFill/>
          <a:ln/>
        </p:spPr>
        <p:txBody>
          <a:bodyPr wrap="square" lIns="254" tIns="254" rIns="254" bIns="254" rtlCol="0" anchor="t"/>
          <a:lstStyle/>
          <a:p>
            <a:pPr marL="0" indent="0">
              <a:buNone/>
            </a:pPr>
            <a:r>
              <a:rPr lang="en-US" sz="1150" dirty="0">
                <a:solidFill>
                  <a:srgbClr val="374151"/>
                </a:solidFill>
              </a:rPr>
              <a:t>• Approve, suspend, or remove user accounts</a:t>
            </a:r>
            <a:endParaRPr lang="en-US" sz="1150" dirty="0"/>
          </a:p>
          <a:p>
            <a:pPr marL="0" indent="0">
              <a:buNone/>
            </a:pPr>
            <a:endParaRPr lang="en-US" sz="1150" dirty="0"/>
          </a:p>
          <a:p>
            <a:pPr marL="0" indent="0">
              <a:buNone/>
            </a:pPr>
            <a:r>
              <a:rPr lang="en-US" sz="1150" dirty="0">
                <a:solidFill>
                  <a:srgbClr val="374151"/>
                </a:solidFill>
              </a:rPr>
              <a:t>• Moderate team listings and roster posts</a:t>
            </a:r>
            <a:endParaRPr lang="en-US" sz="1150" dirty="0"/>
          </a:p>
          <a:p>
            <a:pPr marL="0" indent="0">
              <a:buNone/>
            </a:pPr>
            <a:endParaRPr lang="en-US" sz="1150" dirty="0"/>
          </a:p>
          <a:p>
            <a:pPr marL="0" indent="0">
              <a:buNone/>
            </a:pPr>
            <a:r>
              <a:rPr lang="en-US" sz="1150" dirty="0">
                <a:solidFill>
                  <a:srgbClr val="374151"/>
                </a:solidFill>
              </a:rPr>
              <a:t>• Moderate reviews</a:t>
            </a:r>
            <a:endParaRPr lang="en-US" sz="1150" dirty="0"/>
          </a:p>
          <a:p>
            <a:pPr marL="0" indent="0">
              <a:buNone/>
            </a:pPr>
            <a:endParaRPr lang="en-US" sz="1150" dirty="0"/>
          </a:p>
          <a:p>
            <a:pPr marL="0" indent="0">
              <a:buNone/>
            </a:pPr>
            <a:r>
              <a:rPr lang="en-US" sz="1150" dirty="0">
                <a:solidFill>
                  <a:srgbClr val="374151"/>
                </a:solidFill>
              </a:rPr>
              <a:t>• View platform usage statistics</a:t>
            </a:r>
            <a:endParaRPr lang="en-US" sz="1150" dirty="0"/>
          </a:p>
        </p:txBody>
      </p:sp>
      <p:sp>
        <p:nvSpPr>
          <p:cNvPr id="25" name="Slide Number Placeholder 0"/>
          <p:cNvSpPr>
            <a:spLocks noGrp="1"/>
          </p:cNvSpPr>
          <p:nvPr>
            <p:ph type="sldNum" sz="quarter" idx="4294967295"/>
          </p:nvPr>
        </p:nvSpPr>
        <p:spPr>
          <a:xfrm>
            <a:off x="117043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502920"/>
            <a:ext cx="10972800" cy="502920"/>
          </a:xfrm>
          <a:prstGeom prst="rect">
            <a:avLst/>
          </a:prstGeom>
          <a:noFill/>
          <a:ln/>
        </p:spPr>
        <p:txBody>
          <a:bodyPr wrap="square" lIns="0" tIns="0" rIns="0" bIns="0" rtlCol="0" anchor="ctr"/>
          <a:lstStyle/>
          <a:p>
            <a:pPr marL="0" indent="0">
              <a:buNone/>
            </a:pPr>
            <a:r>
              <a:rPr lang="en-US" sz="2700" b="1" dirty="0">
                <a:solidFill>
                  <a:srgbClr val="123C73"/>
                </a:solidFill>
                <a:latin typeface="Aptos Display" pitchFamily="34" charset="0"/>
                <a:ea typeface="Aptos Display" pitchFamily="34" charset="-122"/>
                <a:cs typeface="Aptos Display" pitchFamily="34" charset="-120"/>
              </a:rPr>
              <a:t>Prototype demo flow</a:t>
            </a:r>
            <a:endParaRPr lang="en-US" sz="2700" dirty="0"/>
          </a:p>
        </p:txBody>
      </p:sp>
      <p:sp>
        <p:nvSpPr>
          <p:cNvPr id="3" name="Text 1"/>
          <p:cNvSpPr/>
          <p:nvPr/>
        </p:nvSpPr>
        <p:spPr>
          <a:xfrm>
            <a:off x="612648" y="1060704"/>
            <a:ext cx="10789920" cy="310896"/>
          </a:xfrm>
          <a:prstGeom prst="rect">
            <a:avLst/>
          </a:prstGeom>
          <a:noFill/>
          <a:ln/>
        </p:spPr>
        <p:txBody>
          <a:bodyPr wrap="square" lIns="0" tIns="0" rIns="0" bIns="0" rtlCol="0" anchor="ctr"/>
          <a:lstStyle/>
          <a:p>
            <a:pPr marL="0" indent="0">
              <a:buNone/>
            </a:pPr>
            <a:r>
              <a:rPr lang="en-US" sz="1300" dirty="0">
                <a:solidFill>
                  <a:srgbClr val="6B7280"/>
                </a:solidFill>
              </a:rPr>
              <a:t>Shared login routes each actor to the correct interface.</a:t>
            </a:r>
            <a:endParaRPr lang="en-US" sz="1300" dirty="0"/>
          </a:p>
        </p:txBody>
      </p:sp>
      <p:sp>
        <p:nvSpPr>
          <p:cNvPr id="4" name="Shape 2"/>
          <p:cNvSpPr/>
          <p:nvPr/>
        </p:nvSpPr>
        <p:spPr>
          <a:xfrm>
            <a:off x="685800" y="1965960"/>
            <a:ext cx="2240280" cy="2240280"/>
          </a:xfrm>
          <a:prstGeom prst="roundRect">
            <a:avLst>
              <a:gd name="adj" fmla="val 2857"/>
            </a:avLst>
          </a:prstGeom>
          <a:solidFill>
            <a:srgbClr val="FFFFFF"/>
          </a:solidFill>
          <a:ln w="12700">
            <a:solidFill>
              <a:srgbClr val="E5E7EB"/>
            </a:solidFill>
            <a:prstDash val="solid"/>
          </a:ln>
          <a:effectLst>
            <a:outerShdw blurRad="12700" dist="50800" dir="2700000" algn="bl" rotWithShape="0">
              <a:srgbClr val="D1D5DB">
                <a:alpha val="16000"/>
              </a:srgbClr>
            </a:outerShdw>
          </a:effectLst>
        </p:spPr>
        <p:txBody>
          <a:bodyPr/>
          <a:lstStyle/>
          <a:p>
            <a:endParaRPr lang="en-US"/>
          </a:p>
        </p:txBody>
      </p:sp>
      <p:sp>
        <p:nvSpPr>
          <p:cNvPr id="5" name="Shape 3"/>
          <p:cNvSpPr/>
          <p:nvPr/>
        </p:nvSpPr>
        <p:spPr>
          <a:xfrm>
            <a:off x="1527048" y="2267712"/>
            <a:ext cx="548640" cy="548640"/>
          </a:xfrm>
          <a:prstGeom prst="ellipse">
            <a:avLst/>
          </a:prstGeom>
          <a:solidFill>
            <a:srgbClr val="F15A29"/>
          </a:solidFill>
          <a:ln w="12700">
            <a:solidFill>
              <a:srgbClr val="F15A29"/>
            </a:solidFill>
            <a:prstDash val="solid"/>
          </a:ln>
        </p:spPr>
        <p:txBody>
          <a:bodyPr/>
          <a:lstStyle/>
          <a:p>
            <a:endParaRPr lang="en-US"/>
          </a:p>
        </p:txBody>
      </p:sp>
      <p:sp>
        <p:nvSpPr>
          <p:cNvPr id="6" name="Text 4"/>
          <p:cNvSpPr/>
          <p:nvPr/>
        </p:nvSpPr>
        <p:spPr>
          <a:xfrm>
            <a:off x="1673352" y="2414016"/>
            <a:ext cx="256032" cy="16459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850392" y="3017520"/>
            <a:ext cx="1911096" cy="292608"/>
          </a:xfrm>
          <a:prstGeom prst="rect">
            <a:avLst/>
          </a:prstGeom>
          <a:noFill/>
          <a:ln/>
        </p:spPr>
        <p:txBody>
          <a:bodyPr wrap="square" lIns="0" tIns="0" rIns="0" bIns="0" rtlCol="0" anchor="ctr"/>
          <a:lstStyle/>
          <a:p>
            <a:pPr marL="0" indent="0" algn="ctr">
              <a:buNone/>
            </a:pPr>
            <a:r>
              <a:rPr lang="en-US" sz="1400" b="1" dirty="0">
                <a:solidFill>
                  <a:srgbClr val="123C73"/>
                </a:solidFill>
              </a:rPr>
              <a:t>1. Shared Login</a:t>
            </a:r>
            <a:endParaRPr lang="en-US" sz="1400" dirty="0"/>
          </a:p>
        </p:txBody>
      </p:sp>
      <p:sp>
        <p:nvSpPr>
          <p:cNvPr id="8" name="Text 6"/>
          <p:cNvSpPr/>
          <p:nvPr/>
        </p:nvSpPr>
        <p:spPr>
          <a:xfrm>
            <a:off x="850392" y="3456432"/>
            <a:ext cx="1911096" cy="566928"/>
          </a:xfrm>
          <a:prstGeom prst="rect">
            <a:avLst/>
          </a:prstGeom>
          <a:noFill/>
          <a:ln/>
        </p:spPr>
        <p:txBody>
          <a:bodyPr wrap="square" lIns="127" tIns="127" rIns="127" bIns="127" rtlCol="0" anchor="ctr"/>
          <a:lstStyle/>
          <a:p>
            <a:pPr marL="0" indent="0" algn="ctr">
              <a:buNone/>
            </a:pPr>
            <a:r>
              <a:rPr lang="en-US" sz="1050" dirty="0">
                <a:solidFill>
                  <a:srgbClr val="4B5563"/>
                </a:solidFill>
              </a:rPr>
              <a:t>Choose Player, Team Captain, or SysAdmin from one landing page.</a:t>
            </a:r>
            <a:endParaRPr lang="en-US" sz="1050" dirty="0"/>
          </a:p>
        </p:txBody>
      </p:sp>
      <p:sp>
        <p:nvSpPr>
          <p:cNvPr id="9" name="Shape 7"/>
          <p:cNvSpPr/>
          <p:nvPr/>
        </p:nvSpPr>
        <p:spPr>
          <a:xfrm>
            <a:off x="2999232" y="2761488"/>
            <a:ext cx="310896" cy="603504"/>
          </a:xfrm>
          <a:prstGeom prst="chevron">
            <a:avLst/>
          </a:prstGeom>
          <a:solidFill>
            <a:srgbClr val="C7CED8"/>
          </a:solidFill>
          <a:ln w="12700">
            <a:solidFill>
              <a:srgbClr val="C7CED8"/>
            </a:solidFill>
            <a:prstDash val="solid"/>
          </a:ln>
        </p:spPr>
        <p:txBody>
          <a:bodyPr/>
          <a:lstStyle/>
          <a:p>
            <a:endParaRPr lang="en-US"/>
          </a:p>
        </p:txBody>
      </p:sp>
      <p:sp>
        <p:nvSpPr>
          <p:cNvPr id="10" name="Shape 8"/>
          <p:cNvSpPr/>
          <p:nvPr/>
        </p:nvSpPr>
        <p:spPr>
          <a:xfrm>
            <a:off x="3401568" y="1965960"/>
            <a:ext cx="2240280" cy="2240280"/>
          </a:xfrm>
          <a:prstGeom prst="roundRect">
            <a:avLst>
              <a:gd name="adj" fmla="val 2857"/>
            </a:avLst>
          </a:prstGeom>
          <a:solidFill>
            <a:srgbClr val="FFFFFF"/>
          </a:solidFill>
          <a:ln w="12700">
            <a:solidFill>
              <a:srgbClr val="E5E7EB"/>
            </a:solidFill>
            <a:prstDash val="solid"/>
          </a:ln>
          <a:effectLst>
            <a:outerShdw blurRad="12700" dist="50800" dir="2700000" algn="bl" rotWithShape="0">
              <a:srgbClr val="D1D5DB">
                <a:alpha val="16000"/>
              </a:srgbClr>
            </a:outerShdw>
          </a:effectLst>
        </p:spPr>
        <p:txBody>
          <a:bodyPr/>
          <a:lstStyle/>
          <a:p>
            <a:endParaRPr lang="en-US"/>
          </a:p>
        </p:txBody>
      </p:sp>
      <p:sp>
        <p:nvSpPr>
          <p:cNvPr id="11" name="Shape 9"/>
          <p:cNvSpPr/>
          <p:nvPr/>
        </p:nvSpPr>
        <p:spPr>
          <a:xfrm>
            <a:off x="4242816" y="2267712"/>
            <a:ext cx="548640" cy="548640"/>
          </a:xfrm>
          <a:prstGeom prst="ellipse">
            <a:avLst/>
          </a:prstGeom>
          <a:solidFill>
            <a:srgbClr val="123C73"/>
          </a:solidFill>
          <a:ln w="12700">
            <a:solidFill>
              <a:srgbClr val="123C73"/>
            </a:solidFill>
            <a:prstDash val="solid"/>
          </a:ln>
        </p:spPr>
        <p:txBody>
          <a:bodyPr/>
          <a:lstStyle/>
          <a:p>
            <a:endParaRPr lang="en-US"/>
          </a:p>
        </p:txBody>
      </p:sp>
      <p:sp>
        <p:nvSpPr>
          <p:cNvPr id="12" name="Text 10"/>
          <p:cNvSpPr/>
          <p:nvPr/>
        </p:nvSpPr>
        <p:spPr>
          <a:xfrm>
            <a:off x="4389120" y="2414016"/>
            <a:ext cx="256032" cy="16459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3566160" y="3017520"/>
            <a:ext cx="1911096" cy="292608"/>
          </a:xfrm>
          <a:prstGeom prst="rect">
            <a:avLst/>
          </a:prstGeom>
          <a:noFill/>
          <a:ln/>
        </p:spPr>
        <p:txBody>
          <a:bodyPr wrap="square" lIns="0" tIns="0" rIns="0" bIns="0" rtlCol="0" anchor="ctr"/>
          <a:lstStyle/>
          <a:p>
            <a:pPr marL="0" indent="0" algn="ctr">
              <a:buNone/>
            </a:pPr>
            <a:r>
              <a:rPr lang="en-US" sz="1400" b="1" dirty="0">
                <a:solidFill>
                  <a:srgbClr val="123C73"/>
                </a:solidFill>
              </a:rPr>
              <a:t>2. Player View</a:t>
            </a:r>
            <a:endParaRPr lang="en-US" sz="1400" dirty="0"/>
          </a:p>
        </p:txBody>
      </p:sp>
      <p:sp>
        <p:nvSpPr>
          <p:cNvPr id="14" name="Text 12"/>
          <p:cNvSpPr/>
          <p:nvPr/>
        </p:nvSpPr>
        <p:spPr>
          <a:xfrm>
            <a:off x="3566160" y="3456432"/>
            <a:ext cx="1911096" cy="566928"/>
          </a:xfrm>
          <a:prstGeom prst="rect">
            <a:avLst/>
          </a:prstGeom>
          <a:noFill/>
          <a:ln/>
        </p:spPr>
        <p:txBody>
          <a:bodyPr wrap="square" lIns="127" tIns="127" rIns="127" bIns="127" rtlCol="0" anchor="ctr"/>
          <a:lstStyle/>
          <a:p>
            <a:pPr marL="0" indent="0" algn="ctr">
              <a:buNone/>
            </a:pPr>
            <a:r>
              <a:rPr lang="en-US" sz="1050" dirty="0">
                <a:solidFill>
                  <a:srgbClr val="4B5563"/>
                </a:solidFill>
              </a:rPr>
              <a:t>Browse teams, open team details, and manage the player experience.</a:t>
            </a:r>
            <a:endParaRPr lang="en-US" sz="1050" dirty="0"/>
          </a:p>
        </p:txBody>
      </p:sp>
      <p:sp>
        <p:nvSpPr>
          <p:cNvPr id="15" name="Shape 13"/>
          <p:cNvSpPr/>
          <p:nvPr/>
        </p:nvSpPr>
        <p:spPr>
          <a:xfrm>
            <a:off x="5715000" y="2761488"/>
            <a:ext cx="310896" cy="603504"/>
          </a:xfrm>
          <a:prstGeom prst="chevron">
            <a:avLst/>
          </a:prstGeom>
          <a:solidFill>
            <a:srgbClr val="C7CED8"/>
          </a:solidFill>
          <a:ln w="12700">
            <a:solidFill>
              <a:srgbClr val="C7CED8"/>
            </a:solidFill>
            <a:prstDash val="solid"/>
          </a:ln>
        </p:spPr>
        <p:txBody>
          <a:bodyPr/>
          <a:lstStyle/>
          <a:p>
            <a:endParaRPr lang="en-US"/>
          </a:p>
        </p:txBody>
      </p:sp>
      <p:sp>
        <p:nvSpPr>
          <p:cNvPr id="16" name="Shape 14"/>
          <p:cNvSpPr/>
          <p:nvPr/>
        </p:nvSpPr>
        <p:spPr>
          <a:xfrm>
            <a:off x="6117336" y="1965960"/>
            <a:ext cx="2240280" cy="2240280"/>
          </a:xfrm>
          <a:prstGeom prst="roundRect">
            <a:avLst>
              <a:gd name="adj" fmla="val 2857"/>
            </a:avLst>
          </a:prstGeom>
          <a:solidFill>
            <a:srgbClr val="FFFFFF"/>
          </a:solidFill>
          <a:ln w="12700">
            <a:solidFill>
              <a:srgbClr val="E5E7EB"/>
            </a:solidFill>
            <a:prstDash val="solid"/>
          </a:ln>
          <a:effectLst>
            <a:outerShdw blurRad="12700" dist="50800" dir="2700000" algn="bl" rotWithShape="0">
              <a:srgbClr val="D1D5DB">
                <a:alpha val="16000"/>
              </a:srgbClr>
            </a:outerShdw>
          </a:effectLst>
        </p:spPr>
        <p:txBody>
          <a:bodyPr/>
          <a:lstStyle/>
          <a:p>
            <a:endParaRPr lang="en-US"/>
          </a:p>
        </p:txBody>
      </p:sp>
      <p:sp>
        <p:nvSpPr>
          <p:cNvPr id="17" name="Shape 15"/>
          <p:cNvSpPr/>
          <p:nvPr/>
        </p:nvSpPr>
        <p:spPr>
          <a:xfrm>
            <a:off x="6958584" y="2267712"/>
            <a:ext cx="548640" cy="548640"/>
          </a:xfrm>
          <a:prstGeom prst="ellipse">
            <a:avLst/>
          </a:prstGeom>
          <a:solidFill>
            <a:srgbClr val="F15A29"/>
          </a:solidFill>
          <a:ln w="12700">
            <a:solidFill>
              <a:srgbClr val="F15A29"/>
            </a:solidFill>
            <a:prstDash val="solid"/>
          </a:ln>
        </p:spPr>
        <p:txBody>
          <a:bodyPr/>
          <a:lstStyle/>
          <a:p>
            <a:endParaRPr lang="en-US"/>
          </a:p>
        </p:txBody>
      </p:sp>
      <p:sp>
        <p:nvSpPr>
          <p:cNvPr id="18" name="Text 16"/>
          <p:cNvSpPr/>
          <p:nvPr/>
        </p:nvSpPr>
        <p:spPr>
          <a:xfrm>
            <a:off x="7104888" y="2414016"/>
            <a:ext cx="256032" cy="16459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Text 17"/>
          <p:cNvSpPr/>
          <p:nvPr/>
        </p:nvSpPr>
        <p:spPr>
          <a:xfrm>
            <a:off x="6281928" y="3017520"/>
            <a:ext cx="1911096" cy="292608"/>
          </a:xfrm>
          <a:prstGeom prst="rect">
            <a:avLst/>
          </a:prstGeom>
          <a:noFill/>
          <a:ln/>
        </p:spPr>
        <p:txBody>
          <a:bodyPr wrap="square" lIns="0" tIns="0" rIns="0" bIns="0" rtlCol="0" anchor="ctr"/>
          <a:lstStyle/>
          <a:p>
            <a:pPr marL="0" indent="0" algn="ctr">
              <a:buNone/>
            </a:pPr>
            <a:r>
              <a:rPr lang="en-US" sz="1400" b="1" dirty="0">
                <a:solidFill>
                  <a:srgbClr val="123C73"/>
                </a:solidFill>
              </a:rPr>
              <a:t>3. Captain View</a:t>
            </a:r>
            <a:endParaRPr lang="en-US" sz="1400" dirty="0"/>
          </a:p>
        </p:txBody>
      </p:sp>
      <p:sp>
        <p:nvSpPr>
          <p:cNvPr id="20" name="Text 18"/>
          <p:cNvSpPr/>
          <p:nvPr/>
        </p:nvSpPr>
        <p:spPr>
          <a:xfrm>
            <a:off x="6281928" y="3456432"/>
            <a:ext cx="1911096" cy="566928"/>
          </a:xfrm>
          <a:prstGeom prst="rect">
            <a:avLst/>
          </a:prstGeom>
          <a:noFill/>
          <a:ln/>
        </p:spPr>
        <p:txBody>
          <a:bodyPr wrap="square" lIns="127" tIns="127" rIns="127" bIns="127" rtlCol="0" anchor="ctr"/>
          <a:lstStyle/>
          <a:p>
            <a:pPr marL="0" indent="0" algn="ctr">
              <a:buNone/>
            </a:pPr>
            <a:r>
              <a:rPr lang="en-US" sz="1050" dirty="0">
                <a:solidFill>
                  <a:srgbClr val="4B5563"/>
                </a:solidFill>
              </a:rPr>
              <a:t>Open the captain dashboard to manage teams, roster, open spots, and reviews.</a:t>
            </a:r>
            <a:endParaRPr lang="en-US" sz="1050" dirty="0"/>
          </a:p>
        </p:txBody>
      </p:sp>
      <p:sp>
        <p:nvSpPr>
          <p:cNvPr id="21" name="Shape 19"/>
          <p:cNvSpPr/>
          <p:nvPr/>
        </p:nvSpPr>
        <p:spPr>
          <a:xfrm>
            <a:off x="8430768" y="2761488"/>
            <a:ext cx="310896" cy="603504"/>
          </a:xfrm>
          <a:prstGeom prst="chevron">
            <a:avLst/>
          </a:prstGeom>
          <a:solidFill>
            <a:srgbClr val="C7CED8"/>
          </a:solidFill>
          <a:ln w="12700">
            <a:solidFill>
              <a:srgbClr val="C7CED8"/>
            </a:solidFill>
            <a:prstDash val="solid"/>
          </a:ln>
        </p:spPr>
        <p:txBody>
          <a:bodyPr/>
          <a:lstStyle/>
          <a:p>
            <a:endParaRPr lang="en-US"/>
          </a:p>
        </p:txBody>
      </p:sp>
      <p:sp>
        <p:nvSpPr>
          <p:cNvPr id="22" name="Shape 20"/>
          <p:cNvSpPr/>
          <p:nvPr/>
        </p:nvSpPr>
        <p:spPr>
          <a:xfrm>
            <a:off x="8833104" y="1965960"/>
            <a:ext cx="2240280" cy="2240280"/>
          </a:xfrm>
          <a:prstGeom prst="roundRect">
            <a:avLst>
              <a:gd name="adj" fmla="val 2857"/>
            </a:avLst>
          </a:prstGeom>
          <a:solidFill>
            <a:srgbClr val="FFFFFF"/>
          </a:solidFill>
          <a:ln w="12700">
            <a:solidFill>
              <a:srgbClr val="E5E7EB"/>
            </a:solidFill>
            <a:prstDash val="solid"/>
          </a:ln>
          <a:effectLst>
            <a:outerShdw blurRad="12700" dist="50800" dir="2700000" algn="bl" rotWithShape="0">
              <a:srgbClr val="D1D5DB">
                <a:alpha val="16000"/>
              </a:srgbClr>
            </a:outerShdw>
          </a:effectLst>
        </p:spPr>
        <p:txBody>
          <a:bodyPr/>
          <a:lstStyle/>
          <a:p>
            <a:endParaRPr lang="en-US"/>
          </a:p>
        </p:txBody>
      </p:sp>
      <p:sp>
        <p:nvSpPr>
          <p:cNvPr id="23" name="Shape 21"/>
          <p:cNvSpPr/>
          <p:nvPr/>
        </p:nvSpPr>
        <p:spPr>
          <a:xfrm>
            <a:off x="9674352" y="2267712"/>
            <a:ext cx="548640" cy="548640"/>
          </a:xfrm>
          <a:prstGeom prst="ellipse">
            <a:avLst/>
          </a:prstGeom>
          <a:solidFill>
            <a:srgbClr val="123C73"/>
          </a:solidFill>
          <a:ln w="12700">
            <a:solidFill>
              <a:srgbClr val="123C73"/>
            </a:solidFill>
            <a:prstDash val="solid"/>
          </a:ln>
        </p:spPr>
        <p:txBody>
          <a:bodyPr/>
          <a:lstStyle/>
          <a:p>
            <a:endParaRPr lang="en-US"/>
          </a:p>
        </p:txBody>
      </p:sp>
      <p:sp>
        <p:nvSpPr>
          <p:cNvPr id="24" name="Text 22"/>
          <p:cNvSpPr/>
          <p:nvPr/>
        </p:nvSpPr>
        <p:spPr>
          <a:xfrm>
            <a:off x="9820656" y="2414016"/>
            <a:ext cx="256032" cy="16459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5" name="Text 23"/>
          <p:cNvSpPr/>
          <p:nvPr/>
        </p:nvSpPr>
        <p:spPr>
          <a:xfrm>
            <a:off x="8997696" y="3017520"/>
            <a:ext cx="1911096" cy="292608"/>
          </a:xfrm>
          <a:prstGeom prst="rect">
            <a:avLst/>
          </a:prstGeom>
          <a:noFill/>
          <a:ln/>
        </p:spPr>
        <p:txBody>
          <a:bodyPr wrap="square" lIns="0" tIns="0" rIns="0" bIns="0" rtlCol="0" anchor="ctr"/>
          <a:lstStyle/>
          <a:p>
            <a:pPr marL="0" indent="0" algn="ctr">
              <a:buNone/>
            </a:pPr>
            <a:r>
              <a:rPr lang="en-US" sz="1400" b="1" dirty="0">
                <a:solidFill>
                  <a:srgbClr val="123C73"/>
                </a:solidFill>
              </a:rPr>
              <a:t>4. SysAdmin View</a:t>
            </a:r>
            <a:endParaRPr lang="en-US" sz="1400" dirty="0"/>
          </a:p>
        </p:txBody>
      </p:sp>
      <p:sp>
        <p:nvSpPr>
          <p:cNvPr id="26" name="Text 24"/>
          <p:cNvSpPr/>
          <p:nvPr/>
        </p:nvSpPr>
        <p:spPr>
          <a:xfrm>
            <a:off x="8997696" y="3456432"/>
            <a:ext cx="1911096" cy="566928"/>
          </a:xfrm>
          <a:prstGeom prst="rect">
            <a:avLst/>
          </a:prstGeom>
          <a:noFill/>
          <a:ln/>
        </p:spPr>
        <p:txBody>
          <a:bodyPr wrap="square" lIns="127" tIns="127" rIns="127" bIns="127" rtlCol="0" anchor="ctr"/>
          <a:lstStyle/>
          <a:p>
            <a:pPr marL="0" indent="0" algn="ctr">
              <a:buNone/>
            </a:pPr>
            <a:r>
              <a:rPr lang="en-US" sz="1050" dirty="0">
                <a:solidFill>
                  <a:srgbClr val="4B5563"/>
                </a:solidFill>
              </a:rPr>
              <a:t>Manage users, services, reviews, and platform statistics.</a:t>
            </a:r>
            <a:endParaRPr lang="en-US" sz="1050" dirty="0"/>
          </a:p>
        </p:txBody>
      </p:sp>
      <p:sp>
        <p:nvSpPr>
          <p:cNvPr id="28" name="Text 26"/>
          <p:cNvSpPr/>
          <p:nvPr/>
        </p:nvSpPr>
        <p:spPr>
          <a:xfrm>
            <a:off x="1737360" y="4928616"/>
            <a:ext cx="8732520" cy="292608"/>
          </a:xfrm>
          <a:prstGeom prst="rect">
            <a:avLst/>
          </a:prstGeom>
          <a:noFill/>
          <a:ln/>
        </p:spPr>
        <p:txBody>
          <a:bodyPr wrap="square" lIns="0" tIns="0" rIns="0" bIns="0" rtlCol="0" anchor="ctr"/>
          <a:lstStyle/>
          <a:p>
            <a:pPr marL="0" indent="0" algn="ctr">
              <a:buNone/>
            </a:pPr>
            <a:endParaRPr lang="en-US" sz="1250" dirty="0"/>
          </a:p>
        </p:txBody>
      </p:sp>
      <p:sp>
        <p:nvSpPr>
          <p:cNvPr id="29" name="Slide Number Placeholder 0"/>
          <p:cNvSpPr>
            <a:spLocks noGrp="1"/>
          </p:cNvSpPr>
          <p:nvPr>
            <p:ph type="sldNum" sz="quarter" idx="4294967295"/>
          </p:nvPr>
        </p:nvSpPr>
        <p:spPr>
          <a:xfrm>
            <a:off x="117043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defRPr>
            </a:lvl1pPr>
          </a:lstStyle>
          <a:p>
            <a:pPr algn="l"/>
            <a:fld id="{F7021451-1387-4CA6-816F-3879F97B5CBC}" type="slidenum">
              <a:rPr lang="en-US" b="0"/>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otalTime>2</TotalTime>
  <Words>359</Words>
  <Application>Microsoft Office PowerPoint</Application>
  <PresentationFormat>Widescreen</PresentationFormat>
  <Paragraphs>59</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UNCG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RecLeague Milestone 2</dc:title>
  <dc:subject>CSC 340 Milestone 2 High-Fidelity Prototype</dc:subject>
  <dc:creator>RecLeague Team</dc:creator>
  <cp:lastModifiedBy>Faiyha Dafalla</cp:lastModifiedBy>
  <cp:revision>2</cp:revision>
  <dcterms:created xsi:type="dcterms:W3CDTF">2026-09-24T05:22:13Z</dcterms:created>
  <dcterms:modified xsi:type="dcterms:W3CDTF">2026-09-24T05:30:32Z</dcterms:modified>
</cp:coreProperties>
</file>